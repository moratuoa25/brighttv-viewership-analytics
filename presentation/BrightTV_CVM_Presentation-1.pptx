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9AC5D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8956</c:v>
                </c:pt>
                <c:pt idx="1">
                  <c:v>1026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Young</c:v>
                  </c:pt>
                  <c:pt idx="1">
                    <c:v>Adults</c:v>
                  </c:pt>
                  <c:pt idx="2">
                    <c:v>Infants</c:v>
                  </c:pt>
                  <c:pt idx="3">
                    <c:v>Teens</c:v>
                  </c:pt>
                  <c:pt idx="4">
                    <c:v>Elder</c:v>
                  </c:pt>
                  <c:pt idx="5">
                    <c:v>Kids</c:v>
                  </c:pt>
                  <c:pt idx="6">
                    <c:v>Senior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5901</c:v>
                </c:pt>
                <c:pt idx="1">
                  <c:v>3015</c:v>
                </c:pt>
                <c:pt idx="2">
                  <c:v>1005</c:v>
                </c:pt>
                <c:pt idx="3">
                  <c:v>460</c:v>
                </c:pt>
                <c:pt idx="4">
                  <c:v>458</c:v>
                </c:pt>
                <c:pt idx="5">
                  <c:v>102</c:v>
                </c:pt>
                <c:pt idx="6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Eastern Cape</c:v>
                  </c:pt>
                  <c:pt idx="1">
                    <c:v>Limpopo</c:v>
                  </c:pt>
                  <c:pt idx="2">
                    <c:v>Mpumalanga</c:v>
                  </c:pt>
                  <c:pt idx="3">
                    <c:v>KZN</c:v>
                  </c:pt>
                  <c:pt idx="4">
                    <c:v>Western Cape</c:v>
                  </c:pt>
                  <c:pt idx="5">
                    <c:v>Gauteng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706</c:v>
                </c:pt>
                <c:pt idx="1">
                  <c:v>789</c:v>
                </c:pt>
                <c:pt idx="2">
                  <c:v>948</c:v>
                </c:pt>
                <c:pt idx="3">
                  <c:v>1034</c:v>
                </c:pt>
                <c:pt idx="4">
                  <c:v>1866</c:v>
                </c:pt>
                <c:pt idx="5">
                  <c:v>3751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SuperSport Blitz</c:v>
                  </c:pt>
                  <c:pt idx="1">
                    <c:v>Trace TV</c:v>
                  </c:pt>
                  <c:pt idx="2">
                    <c:v>Channel O</c:v>
                  </c:pt>
                  <c:pt idx="3">
                    <c:v>ICC Cricket WC</c:v>
                  </c:pt>
                  <c:pt idx="4">
                    <c:v>Live Events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896</c:v>
                </c:pt>
                <c:pt idx="1">
                  <c:v>952</c:v>
                </c:pt>
                <c:pt idx="2">
                  <c:v>1050</c:v>
                </c:pt>
                <c:pt idx="3">
                  <c:v>1465</c:v>
                </c:pt>
                <c:pt idx="4">
                  <c:v>1771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Sun</c:v>
                  </c:pt>
                  <c:pt idx="3">
                    <c:v>Thu</c:v>
                  </c:pt>
                  <c:pt idx="4">
                    <c:v>Wed</c:v>
                  </c:pt>
                  <c:pt idx="5">
                    <c:v>Sat</c:v>
                  </c:pt>
                  <c:pt idx="6">
                    <c:v>Fri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1419</c:v>
                </c:pt>
                <c:pt idx="3">
                  <c:v>1441</c:v>
                </c:pt>
                <c:pt idx="4">
                  <c:v>1553</c:v>
                </c:pt>
                <c:pt idx="5">
                  <c:v>1633</c:v>
                </c:pt>
                <c:pt idx="6">
                  <c:v>1675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Mon+Tue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Live Events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Fri+Sat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Live Events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4747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·  BRIGHTTV VIEWERSHIP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BrightTV's Subscriber Base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trends, consumption drivers, and CVM growth initiatives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10,989 session-level viewing records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443484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drivers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443484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Low-day content strategy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443484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CVM Team  ·  Moratuoa Nthinya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BrightTV's CEO wants to grow the subscriber base this financial year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THIS PRESENTATION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21284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on user and usage trends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317296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influence consumption?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13308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would increase consumption on low-consumption days?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509320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initiatives would further grow the user base?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23760" y="155448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1B255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DATA NOTES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22402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data: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10,989 records, one row per viewing session across 5,375 unique users.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 corrected: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timestamps supplied in UTC were converted to SA time (UTC+2) before any day-of-week or hourly analysis — this shifted 1,272 sessions into a different calendar day.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+ viewer transaction fields — province, demographics, channel, duration, and session timing.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metrics before we dig into trends, drivers, and growth levers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10,989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viewing sessions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93592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9312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sessions per viewer on average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92824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min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01384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 DURATION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47104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viewing session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72016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0616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60.2%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409176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VIEWERS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54896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once and never returned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number is the headline number for this whole presentation — 6 in 10 viewers try BrightTV once and don't come back. Everything from here builds toward fixing that.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Trends: Who Is Watching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17320"/>
          <a:ext cx="35661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6052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023360" y="141732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813816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200" dirty="0"/>
          </a:p>
        </p:txBody>
      </p:sp>
      <p:graphicFrame>
        <p:nvGraphicFramePr>
          <p:cNvPr id="8" name="Chart 2" descr=""/>
          <p:cNvGraphicFramePr/>
          <p:nvPr/>
        </p:nvGraphicFramePr>
        <p:xfrm>
          <a:off x="7955280" y="1417320"/>
          <a:ext cx="3749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822960" y="48371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822960" y="5111496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skews heavily male (89.7%) and young, and is concentrated in two provinces — Gauteng and Western Cape carry the majority of sessions. Both are growth gaps, not just descriptive facts (see Slide 8).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Trends: What &amp; When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BY HOUR OF DAY (SA TIME)</a:t>
            </a:r>
            <a:endParaRPr lang="en-US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035040" y="1463040"/>
          <a:ext cx="5577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02336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EAF2F8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023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 weekday  ·  30.5% weekend  (SA time)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2960" y="48371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" y="5111496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and sport (ICC Cricket, SuperSport) dominate the channel mix. Viewing plateaus 10am–6pm SA time and peaks around 5pm — but that plateau isn't even across the week (next slide).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Factors Influence Consumption?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factors correlate with how long a session lasts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genre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drives the longest sessions — ICC Cricket World Cup averages 16.9 min/session, more than 3x Africa Magic's 3.4 min.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443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0" y="294436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sessions run longer on average (9.65 min) than weekday sessions (8.91 min), even though weekdays carry more volume.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5137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57600" y="4151376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sessions average 12.8 min — the longest of any age group — despite being the smallest audience segment by volume.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2122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5838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vs. returning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535838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viewers average 9.55 min per session vs. 8.81 min for returning viewers — the content hooks people immediately, but most don't come back (see Slide 3).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Low-Consumption Days &amp; What to Do About Them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BY DAY OF WEEK (SA TIME)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and Tuesday are the two lowest-consumption days once times are corrected to SA local time.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30936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LIVE EVENTS SKEWS TO FRI/SAT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46304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343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sessions are 2.8x more common on Fri/Sat than Mon/Tue — and Live Events is one of the highest-duration genres.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event-style programming into the week: schedule cricket/sport highlight packages, replays, or exclusive weekday live fixtures on Mon/Tue. Pair with a Kids/family afternoon block — Kids sessions already run longest per view — to lift weekday engagement from a second angle.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Initiatives to Grow the User 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levers, ranked by how directly they address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 one-time viewers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 of viewers never return, despite first-time sessions running longest. A 48-hour follow-up nudge or personalised recommendation after a first watch directly targets the single biggest drop-off in the funnel.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anonymous sessions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~9% of sessions carry no registration data at all. A lightweight sign-up prompt during an anonymous session turns a one-off viewer into a trackable, retargetable subscriber.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live sport as the acquisition hook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drives the longest sessions and clear weekend peaks. Promote exclusive live fixtures as the entry point, then cross-sell other genres to convert single-event viewers into repeat subscribers.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2550"/>
          </a:solidFill>
          <a:ln w="12700">
            <a:solidFill>
              <a:srgbClr val="3245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7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underrepresented segments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84632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(10%) and provinces outside Gauteng/Western Cape are underrepresented relative to SA's population split — a clear runway for regionally and demographically targeted campaigns.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male-skewed audience concentrated in Gauteng &amp; Western Cape; Live Events and sport dominate; 69.5% of viewing happens on weekdays.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7860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drivers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57860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genre (live sport), day of week (weekend sessions run longer), age group (Kids longest), and first-time novelty all correlate with session length.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484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785616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Low-day content strategy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785616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&amp; Tuesday are lowest — shift event-style and Kids/family programming into those slots to close the gap.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99262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992624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back one-time viewers, convert anonymous sessions, use live sport as an acquisition hook, and target underrepresented demographics/regions.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Case Study — CVM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github.com/Moratuoa25/Brighttv-viewership-analytics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Moratuoa Nthinya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2026-07-25T13:32:54Z</dcterms:created>
  <dcterms:modified xsi:type="dcterms:W3CDTF">2026-07-25T13:32:54Z</dcterms:modified>
</cp:coreProperties>
</file>